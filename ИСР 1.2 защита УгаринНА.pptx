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BF191B-5A99-4B32-80DF-5F4B9C1B5E0C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BD474-AFBE-4722-AF80-8735BCF6D3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69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810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061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357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89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562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272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513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306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34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46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03EC-8753-49A8-A8BC-5D03D13B088B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903EC-8753-49A8-A8BC-5D03D13B088B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6ADAD-86B9-4BFD-893B-12B0BD203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781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916154" y="358775"/>
            <a:ext cx="7896071" cy="1213351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ОБРАЗОВАНИЯ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«РОССИЙСКИЙ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ГОСУДАРСТВЕННЫЙ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ПЕДАГОГИЧЕСКИЙ УНИВЕРСИТЕТ им. А. И. ГЕРЦЕНА»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54287" y="1869490"/>
            <a:ext cx="8985376" cy="1655762"/>
          </a:xfrm>
        </p:spPr>
        <p:txBody>
          <a:bodyPr>
            <a:normAutofit lnSpcReduction="1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приложения для администрирования клиентской базы данных медицинской организации</a:t>
            </a:r>
          </a:p>
          <a:p>
            <a:endParaRPr lang="ru-RU" dirty="0"/>
          </a:p>
        </p:txBody>
      </p:sp>
      <p:pic>
        <p:nvPicPr>
          <p:cNvPr id="4" name="Рисунок 3" descr="https://www.herzen.spb.ru/uploads/frejdkinm/files/%D0%B1%D0%B8%D0%BB%D0%B8%D0%BD%D0%B3%D0%B2.%20%D0%B4%D0%BB%D1%8F%20%D1%81%D0%B2%D0%B5%D1%82%D0%BB%D0%BE%D0%B3%D0%BE%20%D1%84%D0%BE%D0%BD%D0%B0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287" y="358774"/>
            <a:ext cx="1233531" cy="12133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/>
          <p:cNvSpPr/>
          <p:nvPr/>
        </p:nvSpPr>
        <p:spPr>
          <a:xfrm>
            <a:off x="7376746" y="3822616"/>
            <a:ext cx="343547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выпускной квалификационной работы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ru-RU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Старший преподаватель</a:t>
            </a:r>
            <a:endParaRPr lang="ru-RU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Аксютин Павел Александрович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Санкт-Петербург 2026</a:t>
            </a:r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554943" y="3822616"/>
            <a:ext cx="549519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Обучающийся 4 курса очной формы обучения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Специальности 09.03.01 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«Технологии разработки программного обеспечения» </a:t>
            </a:r>
            <a:endParaRPr lang="ru-RU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Угарин Никита Александрович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27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исследования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Петроградском районе Санкт-Петербурга существует государственное бюджетное учреждение центр психолого-педагогической, медицинской и социальной помощи «Здоровье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».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его задачей является психолого-педагогическая помощь детям. Для этого в организации ведётся учёт всех пациентов с помощью личных бумажных карт, а также имеется н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большая база данных в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Access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2013, в которой дублируются данные из карточек пациентов.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связи с ограниченным функционалом, устаревшим программным обеспечением, не стабильной работой и желанием перейти на собственное приложение, было принято решение о создании собственного программного обеспечения для администрирования базы данных, с улучшенным функционалом, возможностями и скоростью работы.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0069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442913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 разработать приложение для записи, хранения и обработки информации о пациентах ЦППМСП «Здоровье».</a:t>
            </a:r>
          </a:p>
          <a:p>
            <a:pPr marL="0" indent="0" algn="just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42913" algn="just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достижения поставленной цели необходимо решить следующие задачи:</a:t>
            </a:r>
          </a:p>
          <a:p>
            <a:pPr lvl="0" indent="214313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Ознакомиться с существующей базой данных;</a:t>
            </a:r>
          </a:p>
          <a:p>
            <a:pPr lvl="0" indent="214313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существующих способов разработки собственного программного продукта;</a:t>
            </a:r>
          </a:p>
          <a:p>
            <a:pPr lvl="0" indent="214313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перенести базу данных из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Access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выбранную систему управления базами данных (СУБД); </a:t>
            </a:r>
          </a:p>
          <a:p>
            <a:pPr lvl="0" indent="214313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приложение для администрирования данной базы данных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1662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технологий разработки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876" y="1728463"/>
            <a:ext cx="2176164" cy="163212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866" y="1458329"/>
            <a:ext cx="1876567" cy="2192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0495" y="2029599"/>
            <a:ext cx="2069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SSMA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2553077" y="2491264"/>
            <a:ext cx="9234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6" idx="3"/>
          </p:cNvCxnSpPr>
          <p:nvPr/>
        </p:nvCxnSpPr>
        <p:spPr>
          <a:xfrm>
            <a:off x="5540292" y="2491264"/>
            <a:ext cx="8876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721" y="1728463"/>
            <a:ext cx="2760426" cy="17231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11954" y="2168098"/>
            <a:ext cx="44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703315" y="3913303"/>
            <a:ext cx="1056162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2913"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Все программы находятся в одной экосистеме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2913"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.NET,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изначально спроектированы для совместной работы. ADO.NET 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обеспечивают бесшовное подключение к базе данных без написания сложного кода для преобразования типов.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 свою очередь, имеет встроенный дизайнер XAML и инструменты для подключения к SQL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604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Миграция базы данных. Начало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3301" y="1690688"/>
            <a:ext cx="6416037" cy="4351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39477" y="3543191"/>
            <a:ext cx="2824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Изначальная база данных в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Access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602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Миграция базы данных. Итог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2319" y="2121796"/>
            <a:ext cx="5077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Перенесенная база данных 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 Management Studio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8995" y="1690687"/>
            <a:ext cx="4526741" cy="43513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2319" y="3420101"/>
            <a:ext cx="50774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442913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удалены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пробелы в именах столбцов (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Внутр_номер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вместо 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Внутр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номер)</a:t>
            </a:r>
          </a:p>
          <a:p>
            <a:pPr lvl="0" indent="442913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Добавлены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таблицы 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Roles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 внешним ключом</a:t>
            </a:r>
          </a:p>
          <a:p>
            <a:pPr lvl="0" indent="442913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Добавлены дополнительные колонки в таблицах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511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 и модули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Блок-схема: альтернативный процесс 3"/>
          <p:cNvSpPr/>
          <p:nvPr/>
        </p:nvSpPr>
        <p:spPr bwMode="blackWhite">
          <a:xfrm>
            <a:off x="4807388" y="2016613"/>
            <a:ext cx="2489703" cy="612648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авторизации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Блок-схема: альтернативный процесс 5"/>
          <p:cNvSpPr/>
          <p:nvPr/>
        </p:nvSpPr>
        <p:spPr bwMode="blackWhite">
          <a:xfrm>
            <a:off x="4807388" y="2947612"/>
            <a:ext cx="2489703" cy="612648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меню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Прямая со стрелкой 7"/>
          <p:cNvCxnSpPr>
            <a:stCxn id="4" idx="2"/>
            <a:endCxn id="6" idx="0"/>
          </p:cNvCxnSpPr>
          <p:nvPr/>
        </p:nvCxnSpPr>
        <p:spPr>
          <a:xfrm>
            <a:off x="6052240" y="2629261"/>
            <a:ext cx="0" cy="318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11" name="Блок-схема: альтернативный процесс 10"/>
          <p:cNvSpPr/>
          <p:nvPr/>
        </p:nvSpPr>
        <p:spPr bwMode="blackWhite">
          <a:xfrm>
            <a:off x="1643201" y="2334964"/>
            <a:ext cx="2489703" cy="612648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Новая карточка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Блок-схема: альтернативный процесс 11"/>
          <p:cNvSpPr/>
          <p:nvPr/>
        </p:nvSpPr>
        <p:spPr bwMode="blackWhite">
          <a:xfrm>
            <a:off x="1643200" y="3560260"/>
            <a:ext cx="2489703" cy="612648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Новый прием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 bwMode="blackWhite">
          <a:xfrm>
            <a:off x="1643199" y="4611940"/>
            <a:ext cx="2489703" cy="847299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Открытие существующей карточки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Прямая со стрелкой 14"/>
          <p:cNvCxnSpPr>
            <a:stCxn id="6" idx="1"/>
            <a:endCxn id="11" idx="3"/>
          </p:cNvCxnSpPr>
          <p:nvPr/>
        </p:nvCxnSpPr>
        <p:spPr>
          <a:xfrm flipH="1" flipV="1">
            <a:off x="4132904" y="2641288"/>
            <a:ext cx="674484" cy="612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17" name="Прямая со стрелкой 16"/>
          <p:cNvCxnSpPr>
            <a:endCxn id="12" idx="3"/>
          </p:cNvCxnSpPr>
          <p:nvPr/>
        </p:nvCxnSpPr>
        <p:spPr>
          <a:xfrm flipH="1">
            <a:off x="4132903" y="3560260"/>
            <a:ext cx="737860" cy="306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19" name="Прямая со стрелкой 18"/>
          <p:cNvCxnSpPr>
            <a:stCxn id="12" idx="3"/>
          </p:cNvCxnSpPr>
          <p:nvPr/>
        </p:nvCxnSpPr>
        <p:spPr>
          <a:xfrm flipV="1">
            <a:off x="4132903" y="3560260"/>
            <a:ext cx="737860" cy="306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22" name="Прямая со стрелкой 21"/>
          <p:cNvCxnSpPr>
            <a:stCxn id="11" idx="3"/>
            <a:endCxn id="6" idx="1"/>
          </p:cNvCxnSpPr>
          <p:nvPr/>
        </p:nvCxnSpPr>
        <p:spPr>
          <a:xfrm>
            <a:off x="4132904" y="2641288"/>
            <a:ext cx="674484" cy="612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24" name="Прямая со стрелкой 23"/>
          <p:cNvCxnSpPr>
            <a:stCxn id="12" idx="2"/>
            <a:endCxn id="13" idx="0"/>
          </p:cNvCxnSpPr>
          <p:nvPr/>
        </p:nvCxnSpPr>
        <p:spPr>
          <a:xfrm flipH="1">
            <a:off x="2888051" y="4172908"/>
            <a:ext cx="1" cy="439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25" name="Блок-схема: альтернативный процесс 24"/>
          <p:cNvSpPr/>
          <p:nvPr/>
        </p:nvSpPr>
        <p:spPr bwMode="blackWhite">
          <a:xfrm>
            <a:off x="4807385" y="4305616"/>
            <a:ext cx="2489703" cy="612648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Журнал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 bwMode="blackWhite">
          <a:xfrm>
            <a:off x="7799556" y="4611940"/>
            <a:ext cx="2489703" cy="612648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Картотека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Прямая со стрелкой 27"/>
          <p:cNvCxnSpPr>
            <a:stCxn id="6" idx="2"/>
            <a:endCxn id="25" idx="0"/>
          </p:cNvCxnSpPr>
          <p:nvPr/>
        </p:nvCxnSpPr>
        <p:spPr>
          <a:xfrm flipH="1">
            <a:off x="6052237" y="3560260"/>
            <a:ext cx="3" cy="745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31" name="Прямая со стрелкой 30"/>
          <p:cNvCxnSpPr>
            <a:stCxn id="25" idx="0"/>
            <a:endCxn id="6" idx="2"/>
          </p:cNvCxnSpPr>
          <p:nvPr/>
        </p:nvCxnSpPr>
        <p:spPr>
          <a:xfrm flipV="1">
            <a:off x="6052237" y="3560260"/>
            <a:ext cx="3" cy="745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34" name="Прямая со стрелкой 33"/>
          <p:cNvCxnSpPr>
            <a:stCxn id="6" idx="3"/>
            <a:endCxn id="26" idx="1"/>
          </p:cNvCxnSpPr>
          <p:nvPr/>
        </p:nvCxnSpPr>
        <p:spPr>
          <a:xfrm>
            <a:off x="7297091" y="3253936"/>
            <a:ext cx="502465" cy="166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37" name="Прямая со стрелкой 36"/>
          <p:cNvCxnSpPr>
            <a:stCxn id="26" idx="1"/>
            <a:endCxn id="6" idx="3"/>
          </p:cNvCxnSpPr>
          <p:nvPr/>
        </p:nvCxnSpPr>
        <p:spPr>
          <a:xfrm flipH="1" flipV="1">
            <a:off x="7297091" y="3253936"/>
            <a:ext cx="502465" cy="166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38" name="Объект 37"/>
          <p:cNvSpPr>
            <a:spLocks noGrp="1"/>
          </p:cNvSpPr>
          <p:nvPr>
            <p:ph idx="1"/>
          </p:nvPr>
        </p:nvSpPr>
        <p:spPr bwMode="blackWhite">
          <a:xfrm>
            <a:off x="7799557" y="2339874"/>
            <a:ext cx="2489703" cy="612648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Кнопки выбора дат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Блок-схема: альтернативный процесс 38"/>
          <p:cNvSpPr/>
          <p:nvPr/>
        </p:nvSpPr>
        <p:spPr bwMode="blackWhite">
          <a:xfrm>
            <a:off x="7799557" y="3391553"/>
            <a:ext cx="2489703" cy="847299"/>
          </a:xfrm>
          <a:prstGeom prst="flowChartAlternateProcess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различных отчетов и таблиц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Прямая со стрелкой 40"/>
          <p:cNvCxnSpPr>
            <a:stCxn id="6" idx="3"/>
            <a:endCxn id="38" idx="1"/>
          </p:cNvCxnSpPr>
          <p:nvPr/>
        </p:nvCxnSpPr>
        <p:spPr>
          <a:xfrm flipV="1">
            <a:off x="7297091" y="2646198"/>
            <a:ext cx="502466" cy="607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44" name="Прямая со стрелкой 43"/>
          <p:cNvCxnSpPr>
            <a:stCxn id="38" idx="1"/>
            <a:endCxn id="6" idx="3"/>
          </p:cNvCxnSpPr>
          <p:nvPr/>
        </p:nvCxnSpPr>
        <p:spPr>
          <a:xfrm flipH="1">
            <a:off x="7297091" y="2646198"/>
            <a:ext cx="502466" cy="607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46" name="Прямая со стрелкой 45"/>
          <p:cNvCxnSpPr>
            <a:stCxn id="38" idx="2"/>
            <a:endCxn id="39" idx="0"/>
          </p:cNvCxnSpPr>
          <p:nvPr/>
        </p:nvCxnSpPr>
        <p:spPr>
          <a:xfrm>
            <a:off x="9044409" y="2952522"/>
            <a:ext cx="0" cy="439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58" name="Прямая со стрелкой 57"/>
          <p:cNvCxnSpPr>
            <a:endCxn id="13" idx="3"/>
          </p:cNvCxnSpPr>
          <p:nvPr/>
        </p:nvCxnSpPr>
        <p:spPr>
          <a:xfrm flipH="1">
            <a:off x="4132902" y="4611940"/>
            <a:ext cx="674483" cy="423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63" name="Соединительная линия уступом 62"/>
          <p:cNvCxnSpPr>
            <a:stCxn id="26" idx="2"/>
            <a:endCxn id="13" idx="2"/>
          </p:cNvCxnSpPr>
          <p:nvPr/>
        </p:nvCxnSpPr>
        <p:spPr>
          <a:xfrm rot="5400000">
            <a:off x="5848905" y="2263735"/>
            <a:ext cx="234651" cy="6156357"/>
          </a:xfrm>
          <a:prstGeom prst="bentConnector3">
            <a:avLst>
              <a:gd name="adj1" fmla="val 2861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1598909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 smtClean="0"/>
              <a:t>Что </a:t>
            </a:r>
            <a:r>
              <a:rPr lang="ru-RU" altLang="ru-RU" sz="2000" dirty="0"/>
              <a:t>на слайде: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dirty="0"/>
              <a:t>Скриншот окна </a:t>
            </a:r>
            <a:r>
              <a:rPr lang="ru-RU" altLang="ru-RU" sz="2000" dirty="0" err="1"/>
              <a:t>NewJoin</a:t>
            </a:r>
            <a:r>
              <a:rPr lang="ru-RU" altLang="ru-RU" sz="2000" dirty="0"/>
              <a:t> (можно вырезать основную часть с поиском и списками шифров)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dirty="0"/>
              <a:t>Выделенные блоки: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000" dirty="0"/>
              <a:t>Поле поиска пациента (</a:t>
            </a:r>
            <a:r>
              <a:rPr lang="ru-RU" altLang="ru-RU" sz="1000" dirty="0" err="1"/>
              <a:t>ComboBox</a:t>
            </a:r>
            <a:r>
              <a:rPr lang="ru-RU" altLang="ru-RU" sz="1000" dirty="0"/>
              <a:t> с </a:t>
            </a:r>
            <a:r>
              <a:rPr lang="ru-RU" altLang="ru-RU" sz="1000" dirty="0" err="1"/>
              <a:t>автодополнением</a:t>
            </a:r>
            <a:r>
              <a:rPr lang="ru-RU" altLang="ru-RU" sz="1000" dirty="0"/>
              <a:t>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000" dirty="0"/>
              <a:t>Три списка шифров (логопед, психиатр, заключения) с множественным выбором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000" dirty="0"/>
              <a:t>Кнопка «Открыть карточку» (переход в NewCard2)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dirty="0"/>
              <a:t>Схема оптимизаций: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 err="1"/>
              <a:t>text</a:t>
            </a:r>
            <a:endParaRPr lang="ru-RU" altLang="ru-RU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Ввод 2 символов → задержка 300 </a:t>
            </a:r>
            <a:r>
              <a:rPr lang="ru-RU" altLang="ru-RU" sz="2000" dirty="0" err="1"/>
              <a:t>мс</a:t>
            </a:r>
            <a:r>
              <a:rPr lang="ru-RU" altLang="ru-RU" sz="2000" dirty="0"/>
              <a:t> → асинхронный запрос → кэш 5 минут → результат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dirty="0"/>
              <a:t>Цифра: «Более 30 000 приёмов — поиск &lt; 0.5 секунды»</a:t>
            </a:r>
          </a:p>
          <a:p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20131"/>
            <a:ext cx="6568593" cy="615553"/>
          </a:xfrm>
          <a:prstGeom prst="rect">
            <a:avLst/>
          </a:prstGeom>
          <a:solidFill>
            <a:srgbClr val="151517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ru-RU" altLang="ru-RU" sz="2000" dirty="0"/>
              <a:t>Ключевая реализация – окно «Новый приём» (прорыв)</a:t>
            </a:r>
            <a:br>
              <a:rPr lang="ru-RU" altLang="ru-RU" sz="2000" dirty="0"/>
            </a:br>
            <a:endParaRPr lang="ru-RU" altLang="ru-RU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0216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695" y="53552"/>
            <a:ext cx="11959628" cy="920903"/>
          </a:xfrm>
        </p:spPr>
        <p:txBody>
          <a:bodyPr>
            <a:normAutofit/>
          </a:bodyPr>
          <a:lstStyle/>
          <a:p>
            <a:pPr algn="ctr"/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Самый сложный элемент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окно «Новый приём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5499657"/>
            <a:ext cx="12192000" cy="1222457"/>
          </a:xfrm>
        </p:spPr>
        <p:txBody>
          <a:bodyPr/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Ввод 2 символов →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задержка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асинхронный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→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кэш записывается на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минут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результат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855179" y="5987534"/>
            <a:ext cx="6484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«Более 30 000 приёмов — поиск &lt; 0.5 секунды»</a:t>
            </a:r>
            <a:endParaRPr lang="ru-RU" altLang="ru-RU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029" y="886470"/>
            <a:ext cx="7972956" cy="424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2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меню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3005" y="1608342"/>
            <a:ext cx="8765989" cy="468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72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10178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Оптимизации 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0431540"/>
              </p:ext>
            </p:extLst>
          </p:nvPr>
        </p:nvGraphicFramePr>
        <p:xfrm>
          <a:off x="838200" y="2036571"/>
          <a:ext cx="10515600" cy="3440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2221418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41255098"/>
                    </a:ext>
                  </a:extLst>
                </a:gridCol>
              </a:tblGrid>
              <a:tr h="691239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Производительность</a:t>
                      </a:r>
                      <a:endParaRPr lang="ru-RU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Безопасность</a:t>
                      </a:r>
                      <a:endParaRPr lang="ru-RU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4922934"/>
                  </a:ext>
                </a:extLst>
              </a:tr>
              <a:tr h="724277"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AsNoTracking</a:t>
                      </a:r>
                      <a:r>
                        <a:rPr lang="en-US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 — EF 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отслеживает изменения, меньше памяти</a:t>
                      </a:r>
                      <a:endParaRPr lang="ru-RU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Таблицы </a:t>
                      </a:r>
                      <a:r>
                        <a:rPr lang="ru-RU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/ </a:t>
                      </a:r>
                      <a:r>
                        <a:rPr lang="ru-RU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Roles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(разграничение прав)</a:t>
                      </a:r>
                      <a:endParaRPr lang="ru-RU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241395"/>
                  </a:ext>
                </a:extLst>
              </a:tr>
              <a:tr h="7785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Индексы </a:t>
                      </a:r>
                      <a:r>
                        <a:rPr lang="en-US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Server 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 полях Фамилия, Имя, </a:t>
                      </a:r>
                      <a:r>
                        <a:rPr lang="ru-RU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Дата_обращения</a:t>
                      </a:r>
                      <a:endParaRPr lang="ru-RU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Шифрование на уровне SQL </a:t>
                      </a:r>
                      <a:r>
                        <a:rPr lang="ru-RU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(SSL/TLS)</a:t>
                      </a:r>
                      <a:endParaRPr lang="ru-RU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418207"/>
                  </a:ext>
                </a:extLst>
              </a:tr>
              <a:tr h="6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Виртуализация </a:t>
                      </a:r>
                      <a:r>
                        <a:rPr lang="en-US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VirtualizingStackPanel</a:t>
                      </a:r>
                      <a:r>
                        <a:rPr lang="en-US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 </a:t>
                      </a:r>
                      <a:r>
                        <a:rPr lang="en-US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Recycling</a:t>
                      </a:r>
                      <a:endParaRPr lang="en-US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PasswordBox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для ввода пароля (символы не видны)</a:t>
                      </a:r>
                      <a:endParaRPr lang="ru-RU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972064"/>
                  </a:ext>
                </a:extLst>
              </a:tr>
              <a:tr h="5432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Асинхронная загрузка и кэширование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Проверка подключения при старте (блок </a:t>
                      </a:r>
                      <a:r>
                        <a:rPr lang="ru-RU" sz="1800" kern="12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try-catch</a:t>
                      </a:r>
                      <a:r>
                        <a:rPr lang="ru-RU" sz="18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8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947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384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4951733"/>
              </p:ext>
            </p:extLst>
          </p:nvPr>
        </p:nvGraphicFramePr>
        <p:xfrm>
          <a:off x="1701486" y="1690688"/>
          <a:ext cx="8789028" cy="35280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29676">
                  <a:extLst>
                    <a:ext uri="{9D8B030D-6E8A-4147-A177-3AD203B41FA5}">
                      <a16:colId xmlns:a16="http://schemas.microsoft.com/office/drawing/2014/main" val="3144249892"/>
                    </a:ext>
                  </a:extLst>
                </a:gridCol>
                <a:gridCol w="2929676">
                  <a:extLst>
                    <a:ext uri="{9D8B030D-6E8A-4147-A177-3AD203B41FA5}">
                      <a16:colId xmlns:a16="http://schemas.microsoft.com/office/drawing/2014/main" val="1908607936"/>
                    </a:ext>
                  </a:extLst>
                </a:gridCol>
                <a:gridCol w="2929676">
                  <a:extLst>
                    <a:ext uri="{9D8B030D-6E8A-4147-A177-3AD203B41FA5}">
                      <a16:colId xmlns:a16="http://schemas.microsoft.com/office/drawing/2014/main" val="3443109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Параметр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MS Access (</a:t>
                      </a:r>
                      <a:r>
                        <a:rPr lang="ru-RU"/>
                        <a:t>было)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/>
                        <a:t>Новая система (стало)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272382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Лимит размера </a:t>
                      </a:r>
                      <a:r>
                        <a:rPr lang="ru-RU" dirty="0"/>
                        <a:t>БД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 ГБ</a:t>
                      </a:r>
                      <a:endParaRPr lang="ru-RU" dirty="0"/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практически без лимитный</a:t>
                      </a:r>
                      <a:r>
                        <a:rPr lang="ru-RU" baseline="0" dirty="0" smtClean="0"/>
                        <a:t> размер</a:t>
                      </a:r>
                      <a:endParaRPr lang="ru-RU" dirty="0"/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64364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Поиск пациента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минуты, зависания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&lt; 0.5 секунды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5538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Номер карточки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ручной ввод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автоматический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748594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Шифров за приём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неограниченное число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785162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Авторизация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 ролям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34248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Отчёты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нет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 видов </a:t>
                      </a:r>
                      <a:r>
                        <a:rPr lang="en-US" dirty="0"/>
                        <a:t>PDF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390241140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3048000" y="564080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Передано в </a:t>
            </a:r>
            <a:r>
              <a:rPr lang="ru-RU" dirty="0" smtClean="0"/>
              <a:t>эксплуатацию </a:t>
            </a:r>
            <a:r>
              <a:rPr lang="ru-RU" dirty="0"/>
              <a:t>в ЦППМСП «</a:t>
            </a:r>
            <a:r>
              <a:rPr lang="ru-RU" dirty="0" smtClean="0"/>
              <a:t>Здоровье»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6217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достигнута: разработано приложение для администрирования клиентской базы данных</a:t>
            </a:r>
          </a:p>
          <a:p>
            <a:pPr marL="0" indent="0" algn="just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решены: анализ → выбор технологий → миграция → разработка</a:t>
            </a:r>
          </a:p>
          <a:p>
            <a:pPr marL="0" indent="0" algn="just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результаты:</a:t>
            </a:r>
          </a:p>
          <a:p>
            <a:pPr lvl="1" algn="just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Клиент-серверная архитектура (MS SQL + WPF)</a:t>
            </a:r>
          </a:p>
          <a:p>
            <a:pPr lvl="1" algn="just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Полная замена устаревшей системы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 на больших объёмах данных</a:t>
            </a:r>
          </a:p>
          <a:p>
            <a:pPr lvl="1" algn="just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Удобный интерфейс с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автодополнением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множественным выбором</a:t>
            </a:r>
          </a:p>
          <a:p>
            <a:pPr lvl="1" algn="just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видов PDF-отчётов</a:t>
            </a:r>
          </a:p>
          <a:p>
            <a:pPr marL="0" indent="0" algn="just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Перспективы: удалённый доступ, веб-версия, мобильное приложение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4584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18922"/>
            <a:ext cx="10515600" cy="3768741"/>
          </a:xfrm>
        </p:spPr>
        <p:txBody>
          <a:bodyPr/>
          <a:lstStyle/>
          <a:p>
            <a:pPr marL="0" indent="0" algn="ctr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выполнил:</a:t>
            </a:r>
          </a:p>
          <a:p>
            <a:pPr marL="0" indent="0" algn="ctr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Обучающийся 4 курса очной формы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обучения</a:t>
            </a:r>
          </a:p>
          <a:p>
            <a:pPr marL="0" indent="0" algn="ctr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Специальности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09.03.01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 разработки программного обеспечения»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Угарин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Никита Александрович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51498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762</Words>
  <Application>Microsoft Office PowerPoint</Application>
  <PresentationFormat>Широкоэкранный</PresentationFormat>
  <Paragraphs>116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Тема Office</vt:lpstr>
      <vt:lpstr>ФЕДЕРАЛЬНОЕ ГОСУДАРСТВЕННОЕ БЮДЖЕТНОЕ ОБРАЗОВАТЕЛЬНОЕ УЧРЕЖДЕНИЕ ВЫСШЕГО ОБРАЗОВАНИЯ «РОССИЙСКИЙ ГОСУДАРСТВЕННЫЙ ПЕДАГОГИЧЕСКИЙ УНИВЕРСИТЕТ им. А. И. ГЕРЦЕНА» </vt:lpstr>
      <vt:lpstr>Актуальность исследования</vt:lpstr>
      <vt:lpstr>Цель и задачи</vt:lpstr>
      <vt:lpstr>Выбор технологий разработки</vt:lpstr>
      <vt:lpstr>Миграция базы данных. Начало</vt:lpstr>
      <vt:lpstr>Миграция базы данных. Итог</vt:lpstr>
      <vt:lpstr>Архитектура приложения и модули</vt:lpstr>
      <vt:lpstr>Ключевая реализация – окно «Новый приём» (прорыв) </vt:lpstr>
      <vt:lpstr>Самый сложный элемент – окно «Новый приём»</vt:lpstr>
      <vt:lpstr>Главное меню</vt:lpstr>
      <vt:lpstr>Оптимизации и безопасность</vt:lpstr>
      <vt:lpstr>Результаты и внедрение</vt:lpstr>
      <vt:lpstr>Заключение</vt:lpstr>
      <vt:lpstr>Спасибо за внимание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ФЕДЕРАЛЬНОЕ ГОСУДАРСТВЕННОЕ БЮДЖЕТНОЕ ОБРАЗОВАТЕЛЬНОЕ УЧРЕЖДЕНИЕ ВЫСШЕГО ОБРАЗОВАНИЯ «РОССИЙСКИЙ ГОСУДАРСТВЕННЫЙ ПЕДАГОГИЧЕСКИЙ УНИВЕРСИТЕТ им. А. И. ГЕРЦЕНА» </dc:title>
  <dc:creator>Никита Угарин</dc:creator>
  <cp:lastModifiedBy>Никита Угарин</cp:lastModifiedBy>
  <cp:revision>24</cp:revision>
  <dcterms:created xsi:type="dcterms:W3CDTF">2026-05-19T07:40:02Z</dcterms:created>
  <dcterms:modified xsi:type="dcterms:W3CDTF">2026-05-21T13:41:00Z</dcterms:modified>
</cp:coreProperties>
</file>